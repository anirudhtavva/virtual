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37" r:id="rId4"/>
  </p:sldMasterIdLst>
  <p:notesMasterIdLst>
    <p:notesMasterId r:id="rId7"/>
  </p:notesMasterIdLst>
  <p:handoutMasterIdLst>
    <p:handoutMasterId r:id="rId8"/>
  </p:handoutMasterIdLst>
  <p:sldIdLst>
    <p:sldId id="1006" r:id="rId5"/>
    <p:sldId id="1017" r:id="rId6"/>
  </p:sldIdLst>
  <p:sldSz cx="9906000" cy="6858000" type="A4"/>
  <p:notesSz cx="6896100" cy="9931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341">
          <p15:clr>
            <a:srgbClr val="A4A3A4"/>
          </p15:clr>
        </p15:guide>
        <p15:guide id="3" orient="horz" pos="294">
          <p15:clr>
            <a:srgbClr val="A4A3A4"/>
          </p15:clr>
        </p15:guide>
        <p15:guide id="4" orient="horz" pos="672" userDrawn="1">
          <p15:clr>
            <a:srgbClr val="A4A3A4"/>
          </p15:clr>
        </p15:guide>
        <p15:guide id="5" orient="horz" pos="816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  <p15:guide id="7" orient="horz" pos="2256" userDrawn="1">
          <p15:clr>
            <a:srgbClr val="A4A3A4"/>
          </p15:clr>
        </p15:guide>
        <p15:guide id="8" orient="horz" pos="432">
          <p15:clr>
            <a:srgbClr val="A4A3A4"/>
          </p15:clr>
        </p15:guide>
        <p15:guide id="9" orient="horz" pos="2448" userDrawn="1">
          <p15:clr>
            <a:srgbClr val="A4A3A4"/>
          </p15:clr>
        </p15:guide>
        <p15:guide id="11" pos="3120" userDrawn="1">
          <p15:clr>
            <a:srgbClr val="A4A3A4"/>
          </p15:clr>
        </p15:guide>
        <p15:guide id="13" pos="95">
          <p15:clr>
            <a:srgbClr val="A4A3A4"/>
          </p15:clr>
        </p15:guide>
        <p15:guide id="14" pos="6144" userDrawn="1">
          <p15:clr>
            <a:srgbClr val="A4A3A4"/>
          </p15:clr>
        </p15:guide>
        <p15:guide id="15" pos="3024" userDrawn="1">
          <p15:clr>
            <a:srgbClr val="A4A3A4"/>
          </p15:clr>
        </p15:guide>
        <p15:guide id="16" pos="32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D72"/>
    <a:srgbClr val="F0F2F6"/>
    <a:srgbClr val="040404"/>
    <a:srgbClr val="EBEEF4"/>
    <a:srgbClr val="00BDF2"/>
    <a:srgbClr val="CCF2FC"/>
    <a:srgbClr val="99ABC7"/>
    <a:srgbClr val="97999B"/>
    <a:srgbClr val="53565A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9800" autoAdjust="0"/>
  </p:normalViewPr>
  <p:slideViewPr>
    <p:cSldViewPr snapToGrid="0">
      <p:cViewPr varScale="1">
        <p:scale>
          <a:sx n="86" d="100"/>
          <a:sy n="86" d="100"/>
        </p:scale>
        <p:origin x="1176" y="62"/>
      </p:cViewPr>
      <p:guideLst>
        <p:guide orient="horz" pos="2341"/>
        <p:guide orient="horz" pos="294"/>
        <p:guide orient="horz" pos="672"/>
        <p:guide orient="horz" pos="816"/>
        <p:guide orient="horz" pos="3888"/>
        <p:guide orient="horz" pos="2256"/>
        <p:guide orient="horz" pos="432"/>
        <p:guide orient="horz" pos="2448"/>
        <p:guide pos="3120"/>
        <p:guide pos="95"/>
        <p:guide pos="6144"/>
        <p:guide pos="3024"/>
        <p:guide pos="3216"/>
      </p:guideLst>
    </p:cSldViewPr>
  </p:slideViewPr>
  <p:outlineViewPr>
    <p:cViewPr>
      <p:scale>
        <a:sx n="33" d="100"/>
        <a:sy n="33" d="100"/>
      </p:scale>
      <p:origin x="0" y="50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97956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t" anchorCtr="0" compatLnSpc="1">
            <a:prstTxWarp prst="textNoShape">
              <a:avLst/>
            </a:prstTxWarp>
          </a:bodyPr>
          <a:lstStyle>
            <a:lvl1pPr algn="l" defTabSz="881149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8146" y="3"/>
            <a:ext cx="2997955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t" anchorCtr="0" compatLnSpc="1">
            <a:prstTxWarp prst="textNoShape">
              <a:avLst/>
            </a:prstTxWarp>
          </a:bodyPr>
          <a:lstStyle>
            <a:lvl1pPr algn="r" defTabSz="881149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442997"/>
            <a:ext cx="2997956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b" anchorCtr="0" compatLnSpc="1">
            <a:prstTxWarp prst="textNoShape">
              <a:avLst/>
            </a:prstTxWarp>
          </a:bodyPr>
          <a:lstStyle>
            <a:lvl1pPr algn="l" defTabSz="881149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8146" y="9442997"/>
            <a:ext cx="2997955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b" anchorCtr="0" compatLnSpc="1">
            <a:prstTxWarp prst="textNoShape">
              <a:avLst/>
            </a:prstTxWarp>
          </a:bodyPr>
          <a:lstStyle>
            <a:lvl1pPr algn="r" defTabSz="881149">
              <a:defRPr sz="1100" smtClean="0"/>
            </a:lvl1pPr>
          </a:lstStyle>
          <a:p>
            <a:pPr>
              <a:defRPr/>
            </a:pPr>
            <a:fld id="{DA6835A3-9366-4C20-B248-0AC9C46AA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723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6703" cy="494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t" anchorCtr="0" compatLnSpc="1">
            <a:prstTxWarp prst="textNoShape">
              <a:avLst/>
            </a:prstTxWarp>
          </a:bodyPr>
          <a:lstStyle>
            <a:lvl1pPr algn="l" defTabSz="896998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7791" y="0"/>
            <a:ext cx="2986703" cy="494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t" anchorCtr="0" compatLnSpc="1">
            <a:prstTxWarp prst="textNoShape">
              <a:avLst/>
            </a:prstTxWarp>
          </a:bodyPr>
          <a:lstStyle>
            <a:lvl1pPr algn="r" defTabSz="896998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58825" y="746125"/>
            <a:ext cx="537845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003" y="4717535"/>
            <a:ext cx="5520095" cy="44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6657"/>
            <a:ext cx="2986703" cy="49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b" anchorCtr="0" compatLnSpc="1">
            <a:prstTxWarp prst="textNoShape">
              <a:avLst/>
            </a:prstTxWarp>
          </a:bodyPr>
          <a:lstStyle>
            <a:lvl1pPr algn="l" defTabSz="896998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7791" y="9436657"/>
            <a:ext cx="2986703" cy="49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b" anchorCtr="0" compatLnSpc="1">
            <a:prstTxWarp prst="textNoShape">
              <a:avLst/>
            </a:prstTxWarp>
          </a:bodyPr>
          <a:lstStyle>
            <a:lvl1pPr algn="r" defTabSz="896998">
              <a:defRPr sz="1100" smtClean="0"/>
            </a:lvl1pPr>
          </a:lstStyle>
          <a:p>
            <a:pPr>
              <a:defRPr/>
            </a:pPr>
            <a:fld id="{C0C428FF-E08F-45DE-BAC9-258D4444EC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449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0413" y="747713"/>
            <a:ext cx="5375275" cy="3721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C428FF-E08F-45DE-BAC9-258D4444EC1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214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 descr="citi-r_2c-blu_pos_rg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727" y="6569075"/>
            <a:ext cx="4746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0" name="Rectangle 84"/>
          <p:cNvSpPr>
            <a:spLocks noGrp="1" noChangeArrowheads="1"/>
          </p:cNvSpPr>
          <p:nvPr>
            <p:ph type="subTitle" idx="1"/>
          </p:nvPr>
        </p:nvSpPr>
        <p:spPr>
          <a:xfrm>
            <a:off x="152400" y="3429000"/>
            <a:ext cx="9601200" cy="990600"/>
          </a:xfrm>
        </p:spPr>
        <p:txBody>
          <a:bodyPr/>
          <a:lstStyle>
            <a:lvl1pPr marL="0" indent="0">
              <a:buFont typeface="Symbol" pitchFamily="18" charset="2"/>
              <a:buNone/>
              <a:defRPr sz="2000">
                <a:solidFill>
                  <a:schemeClr val="hlink"/>
                </a:solidFill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37893" name="Rectangle 83"/>
          <p:cNvSpPr>
            <a:spLocks noGrp="1" noChangeArrowheads="1"/>
          </p:cNvSpPr>
          <p:nvPr>
            <p:ph type="ctrTitle"/>
          </p:nvPr>
        </p:nvSpPr>
        <p:spPr>
          <a:xfrm>
            <a:off x="152400" y="2632043"/>
            <a:ext cx="9601200" cy="492443"/>
          </a:xfr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859487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8902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295400"/>
            <a:ext cx="4648200" cy="48768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1" y="1295400"/>
            <a:ext cx="4648200" cy="48768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28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4627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522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Line 14"/>
          <p:cNvSpPr>
            <a:spLocks noChangeShapeType="1"/>
          </p:cNvSpPr>
          <p:nvPr/>
        </p:nvSpPr>
        <p:spPr bwMode="auto">
          <a:xfrm>
            <a:off x="146049" y="457200"/>
            <a:ext cx="9601200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992" tIns="45508" rIns="90992" bIns="45508"/>
          <a:lstStyle/>
          <a:p>
            <a:pPr algn="l"/>
            <a:endParaRPr lang="en-GB" dirty="0">
              <a:solidFill>
                <a:srgbClr val="53565A"/>
              </a:solidFill>
              <a:latin typeface="Arial"/>
            </a:endParaRPr>
          </a:p>
        </p:txBody>
      </p:sp>
      <p:sp>
        <p:nvSpPr>
          <p:cNvPr id="14339" name="Rectangle 84"/>
          <p:cNvSpPr>
            <a:spLocks noGrp="1" noChangeArrowheads="1"/>
          </p:cNvSpPr>
          <p:nvPr>
            <p:ph type="body" idx="1"/>
          </p:nvPr>
        </p:nvSpPr>
        <p:spPr bwMode="gray">
          <a:xfrm>
            <a:off x="152400" y="1295400"/>
            <a:ext cx="9601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0" name="Line 11"/>
          <p:cNvSpPr>
            <a:spLocks noChangeShapeType="1"/>
          </p:cNvSpPr>
          <p:nvPr/>
        </p:nvSpPr>
        <p:spPr bwMode="auto">
          <a:xfrm>
            <a:off x="146049" y="6400800"/>
            <a:ext cx="9601200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992" tIns="45508" rIns="90992" bIns="45508"/>
          <a:lstStyle/>
          <a:p>
            <a:pPr algn="l"/>
            <a:endParaRPr lang="en-GB" dirty="0">
              <a:solidFill>
                <a:srgbClr val="53565A"/>
              </a:solidFill>
              <a:latin typeface="Arial"/>
            </a:endParaRPr>
          </a:p>
        </p:txBody>
      </p:sp>
      <p:pic>
        <p:nvPicPr>
          <p:cNvPr id="14341" name="Picture 9" descr="citi-r_2c-blu_pos_rgb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727" y="6569075"/>
            <a:ext cx="4746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Rectangle 83"/>
          <p:cNvSpPr>
            <a:spLocks noGrp="1" noChangeArrowheads="1"/>
          </p:cNvSpPr>
          <p:nvPr>
            <p:ph type="title"/>
          </p:nvPr>
        </p:nvSpPr>
        <p:spPr bwMode="gray">
          <a:xfrm>
            <a:off x="152416" y="60326"/>
            <a:ext cx="9598025" cy="3778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3174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STKaiti" pitchFamily="2" charset="-122"/>
          <a:cs typeface="STKaiti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5pPr>
      <a:lvl6pPr marL="454986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6pPr>
      <a:lvl7pPr marL="909969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7pPr>
      <a:lvl8pPr marL="136496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8pPr>
      <a:lvl9pPr marL="1819946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9pPr>
    </p:titleStyle>
    <p:bodyStyle>
      <a:lvl1pPr marL="169863" indent="-169863" algn="l" defTabSz="1828800" rtl="0" eaLnBrk="0" fontAlgn="base" hangingPunct="0">
        <a:spcBef>
          <a:spcPct val="7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1pPr>
      <a:lvl2pPr marL="341313" indent="-169863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2pPr>
      <a:lvl3pPr marL="514350" indent="-169863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3pPr>
      <a:lvl4pPr marL="681038" indent="-165100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4pPr>
      <a:lvl5pPr marL="847725" indent="-163513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5pPr>
      <a:lvl6pPr marL="1303353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6pPr>
      <a:lvl7pPr marL="1758331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7pPr>
      <a:lvl8pPr marL="2213318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8pPr>
      <a:lvl9pPr marL="2668302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4986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9969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4960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19946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4928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29913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4906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39891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gif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4"/>
          <p:cNvSpPr>
            <a:spLocks noGrp="1" noChangeArrowheads="1"/>
          </p:cNvSpPr>
          <p:nvPr>
            <p:ph type="ctrTitle"/>
          </p:nvPr>
        </p:nvSpPr>
        <p:spPr bwMode="gray">
          <a:xfrm>
            <a:off x="153063" y="3400064"/>
            <a:ext cx="9599877" cy="1354217"/>
          </a:xfrm>
          <a:noFill/>
        </p:spPr>
        <p:txBody>
          <a:bodyPr/>
          <a:lstStyle/>
          <a:p>
            <a:r>
              <a:rPr lang="en-US" dirty="0"/>
              <a:t>Prometheus acquisition</a:t>
            </a:r>
            <a:br>
              <a:rPr lang="en-US" dirty="0"/>
            </a:br>
            <a:br>
              <a:rPr lang="en-US" dirty="0"/>
            </a:br>
            <a:r>
              <a:rPr lang="en-US" sz="2400" i="1" dirty="0">
                <a:solidFill>
                  <a:schemeClr val="accent3"/>
                </a:solidFill>
              </a:rPr>
              <a:t>Atlas Gaming</a:t>
            </a:r>
          </a:p>
        </p:txBody>
      </p:sp>
      <p:sp>
        <p:nvSpPr>
          <p:cNvPr id="90118" name="Text Box 13"/>
          <p:cNvSpPr txBox="1">
            <a:spLocks noChangeArrowheads="1"/>
          </p:cNvSpPr>
          <p:nvPr/>
        </p:nvSpPr>
        <p:spPr bwMode="gray">
          <a:xfrm>
            <a:off x="153063" y="1177915"/>
            <a:ext cx="957236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pPr eaLnBrk="1" hangingPunct="1"/>
            <a:r>
              <a:rPr lang="en-US" sz="1200" dirty="0">
                <a:solidFill>
                  <a:srgbClr val="53565A"/>
                </a:solidFill>
              </a:rPr>
              <a:t>July 2019</a:t>
            </a:r>
          </a:p>
        </p:txBody>
      </p:sp>
      <p:grpSp>
        <p:nvGrpSpPr>
          <p:cNvPr id="90133" name="Group 2"/>
          <p:cNvGrpSpPr>
            <a:grpSpLocks/>
          </p:cNvGrpSpPr>
          <p:nvPr/>
        </p:nvGrpSpPr>
        <p:grpSpPr bwMode="gray">
          <a:xfrm>
            <a:off x="-1720" y="0"/>
            <a:ext cx="9911160" cy="6858000"/>
            <a:chOff x="-1588" y="0"/>
            <a:chExt cx="9148763" cy="6858000"/>
          </a:xfrm>
        </p:grpSpPr>
        <p:pic>
          <p:nvPicPr>
            <p:cNvPr id="90134" name="Picture 1" descr="G:\CTS - (formerly GTS)\_CTS Templates\Pitchbook Covers\981531\Letter_Version\Archive\981531_CTS_Letter_wave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-1588" y="0"/>
              <a:ext cx="9148763" cy="1023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/>
            <p:cNvSpPr/>
            <p:nvPr/>
          </p:nvSpPr>
          <p:spPr bwMode="gray">
            <a:xfrm>
              <a:off x="8229600" y="6400800"/>
              <a:ext cx="914400" cy="4572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dirty="0">
                <a:solidFill>
                  <a:srgbClr val="53565A"/>
                </a:solidFill>
                <a:ea typeface="+mj-ea"/>
              </a:endParaRPr>
            </a:p>
          </p:txBody>
        </p:sp>
      </p:grpSp>
      <p:sp>
        <p:nvSpPr>
          <p:cNvPr id="90136" name="Text Box 8"/>
          <p:cNvSpPr txBox="1">
            <a:spLocks noChangeArrowheads="1"/>
          </p:cNvSpPr>
          <p:nvPr/>
        </p:nvSpPr>
        <p:spPr bwMode="gray">
          <a:xfrm>
            <a:off x="161661" y="538261"/>
            <a:ext cx="839258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pPr eaLnBrk="1" hangingPunct="1">
              <a:lnSpc>
                <a:spcPts val="2400"/>
              </a:lnSpc>
            </a:pPr>
            <a:r>
              <a:rPr lang="en-US" dirty="0">
                <a:solidFill>
                  <a:srgbClr val="FFFFFF"/>
                </a:solidFill>
              </a:rPr>
              <a:t>Institutional Clients Group | General Industrials &amp; Financial Sponsors</a:t>
            </a:r>
          </a:p>
        </p:txBody>
      </p:sp>
      <p:pic>
        <p:nvPicPr>
          <p:cNvPr id="15" name="Picture 11" descr="citi-r_1c-red_rev_rg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9043988" y="452438"/>
            <a:ext cx="763587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 bwMode="auto">
          <a:xfrm>
            <a:off x="7100047" y="1138797"/>
            <a:ext cx="2513993" cy="947335"/>
          </a:xfrm>
          <a:prstGeom prst="rect">
            <a:avLst/>
          </a:prstGeom>
          <a:solidFill>
            <a:srgbClr val="CB6015">
              <a:alpha val="20000"/>
            </a:srgbClr>
          </a:solidFill>
          <a:ln w="1270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050" i="1" dirty="0">
                <a:solidFill>
                  <a:srgbClr val="CB6015"/>
                </a:solidFill>
                <a:ea typeface="+mj-ea"/>
              </a:rPr>
              <a:t>These materials were produced for </a:t>
            </a:r>
            <a:r>
              <a:rPr lang="en-AU" sz="1050" i="1" dirty="0" err="1">
                <a:solidFill>
                  <a:srgbClr val="CB6015"/>
                </a:solidFill>
                <a:ea typeface="+mj-ea"/>
              </a:rPr>
              <a:t>InsideSherpa</a:t>
            </a:r>
            <a:r>
              <a:rPr lang="en-AU" sz="1050" i="1" dirty="0">
                <a:solidFill>
                  <a:srgbClr val="CB6015"/>
                </a:solidFill>
                <a:ea typeface="+mj-ea"/>
              </a:rPr>
              <a:t> for educational and training purposes</a:t>
            </a:r>
            <a:endParaRPr kumimoji="0" lang="en-AU" sz="1050" b="0" i="1" u="none" strike="noStrike" cap="none" normalizeH="0" baseline="0" dirty="0">
              <a:ln>
                <a:noFill/>
              </a:ln>
              <a:solidFill>
                <a:srgbClr val="CB6015"/>
              </a:solidFill>
              <a:effectLst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1202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5"/>
          <p:cNvSpPr>
            <a:spLocks noGrp="1" noChangeArrowheads="1"/>
          </p:cNvSpPr>
          <p:nvPr>
            <p:ph type="title"/>
          </p:nvPr>
        </p:nvSpPr>
        <p:spPr bwMode="gray">
          <a:solidFill>
            <a:schemeClr val="bg1"/>
          </a:solidFill>
          <a:ln w="12700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/>
              <a:t>Industry overview and strategic rationale</a:t>
            </a:r>
          </a:p>
        </p:txBody>
      </p:sp>
      <p:pic>
        <p:nvPicPr>
          <p:cNvPr id="2050" name="Picture 2" descr="DYWIDAG-SYSTEMS INTERNATIONAL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55575" y="-13652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/>
        </p:nvGrpSpPr>
        <p:grpSpPr bwMode="gray">
          <a:xfrm>
            <a:off x="151200" y="668981"/>
            <a:ext cx="9601200" cy="391746"/>
            <a:chOff x="151200" y="668883"/>
            <a:chExt cx="9601200" cy="391746"/>
          </a:xfrm>
        </p:grpSpPr>
        <p:sp>
          <p:nvSpPr>
            <p:cNvPr id="8" name="MessageBox"/>
            <p:cNvSpPr/>
            <p:nvPr>
              <p:custDataLst>
                <p:tags r:id="rId3"/>
              </p:custDataLst>
            </p:nvPr>
          </p:nvSpPr>
          <p:spPr bwMode="gray">
            <a:xfrm>
              <a:off x="151200" y="668883"/>
              <a:ext cx="9601200" cy="2154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lvl="0" algn="l">
                <a:defRPr/>
              </a:pP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BDF2"/>
                </a:solidFill>
                <a:effectLst/>
                <a:uLnTx/>
                <a:uFillTx/>
                <a:latin typeface="Arial"/>
                <a:ea typeface="STKaiti"/>
              </a:endParaRPr>
            </a:p>
          </p:txBody>
        </p:sp>
        <p:cxnSp>
          <p:nvCxnSpPr>
            <p:cNvPr id="9" name="MessageLine"/>
            <p:cNvCxnSpPr/>
            <p:nvPr/>
          </p:nvCxnSpPr>
          <p:spPr bwMode="gray">
            <a:xfrm>
              <a:off x="151200" y="1060629"/>
              <a:ext cx="9601200" cy="0"/>
            </a:xfrm>
            <a:prstGeom prst="line">
              <a:avLst/>
            </a:prstGeom>
            <a:solidFill>
              <a:schemeClr val="folHlink"/>
            </a:solidFill>
            <a:ln w="6350" cap="flat" cmpd="sng" algn="ctr">
              <a:solidFill>
                <a:srgbClr val="97999B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1" name="Line 24"/>
          <p:cNvSpPr>
            <a:spLocks noChangeShapeType="1"/>
          </p:cNvSpPr>
          <p:nvPr/>
        </p:nvSpPr>
        <p:spPr bwMode="gray">
          <a:xfrm>
            <a:off x="4948871" y="1229911"/>
            <a:ext cx="0" cy="5081241"/>
          </a:xfrm>
          <a:prstGeom prst="line">
            <a:avLst/>
          </a:prstGeom>
          <a:noFill/>
          <a:ln w="9525" cap="rnd">
            <a:solidFill>
              <a:srgbClr val="97999B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53565A"/>
              </a:solidFill>
              <a:latin typeface="Arial"/>
              <a:ea typeface="ヒラギノ角ゴ Pro W3"/>
            </a:endParaRPr>
          </a:p>
        </p:txBody>
      </p:sp>
      <p:sp>
        <p:nvSpPr>
          <p:cNvPr id="12" name="Rectangle 11"/>
          <p:cNvSpPr/>
          <p:nvPr/>
        </p:nvSpPr>
        <p:spPr bwMode="gray">
          <a:xfrm>
            <a:off x="5132590" y="1237979"/>
            <a:ext cx="4617851" cy="2488558"/>
          </a:xfrm>
          <a:prstGeom prst="rect">
            <a:avLst/>
          </a:prstGeom>
          <a:solidFill>
            <a:schemeClr val="folHlink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A mobile game business model is a monetization strategy developers use to drive revenue for their app.</a:t>
            </a:r>
          </a:p>
          <a:p>
            <a:r>
              <a:rPr lang="en-US" dirty="0"/>
              <a:t>They can either choose to monetize through a one time payment, in-app purchases, or via ad monetization. One time payments relate to premium paid apps, essentially meaning users get your game for an upfront price. In-app purchases and ad monetization offer a more recurring revenue stream, increasing user engagement, platform experience, and in-game earnings.</a:t>
            </a:r>
            <a:endParaRPr lang="en-US" baseline="0" dirty="0"/>
          </a:p>
        </p:txBody>
      </p:sp>
      <p:sp>
        <p:nvSpPr>
          <p:cNvPr id="13" name="Rectangle 12"/>
          <p:cNvSpPr/>
          <p:nvPr/>
        </p:nvSpPr>
        <p:spPr bwMode="auto">
          <a:xfrm>
            <a:off x="2392561" y="6492373"/>
            <a:ext cx="5120879" cy="279055"/>
          </a:xfrm>
          <a:prstGeom prst="rect">
            <a:avLst/>
          </a:prstGeom>
          <a:solidFill>
            <a:srgbClr val="CB6015">
              <a:alpha val="20000"/>
            </a:srgbClr>
          </a:solidFill>
          <a:ln w="1270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900" i="1" dirty="0">
                <a:solidFill>
                  <a:srgbClr val="CB6015"/>
                </a:solidFill>
                <a:ea typeface="+mj-ea"/>
              </a:rPr>
              <a:t>These materials were produced for </a:t>
            </a:r>
            <a:r>
              <a:rPr lang="en-AU" sz="900" i="1" dirty="0" err="1">
                <a:solidFill>
                  <a:srgbClr val="CB6015"/>
                </a:solidFill>
                <a:ea typeface="+mj-ea"/>
              </a:rPr>
              <a:t>InsideSherpa</a:t>
            </a:r>
            <a:r>
              <a:rPr lang="en-AU" sz="900" i="1" dirty="0">
                <a:solidFill>
                  <a:srgbClr val="CB6015"/>
                </a:solidFill>
                <a:ea typeface="+mj-ea"/>
              </a:rPr>
              <a:t> for educational and training purposes</a:t>
            </a:r>
            <a:endParaRPr kumimoji="0" lang="en-AU" sz="900" b="0" i="1" u="none" strike="noStrike" cap="none" normalizeH="0" baseline="0" dirty="0">
              <a:ln>
                <a:noFill/>
              </a:ln>
              <a:solidFill>
                <a:srgbClr val="CB6015"/>
              </a:solidFill>
              <a:effectLst/>
              <a:ea typeface="+mj-ea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58818" y="645187"/>
            <a:ext cx="8686800" cy="279055"/>
          </a:xfrm>
          <a:prstGeom prst="rect">
            <a:avLst/>
          </a:prstGeom>
          <a:solidFill>
            <a:schemeClr val="accent6">
              <a:alpha val="20000"/>
            </a:schemeClr>
          </a:solidFill>
          <a:ln w="127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l">
              <a:defRPr/>
            </a:pPr>
            <a:r>
              <a:rPr lang="en-US" sz="900" dirty="0">
                <a:solidFill>
                  <a:srgbClr val="00BDF2"/>
                </a:solidFill>
                <a:latin typeface="Arial"/>
                <a:ea typeface="STKaiti"/>
              </a:rPr>
              <a:t>Prometheus is a leading free-to-play mobile, social and web-based game developer in Europe. The online mobile gaming generated ~US$33bn of revenue in Asia, the US and Europe .</a:t>
            </a:r>
          </a:p>
        </p:txBody>
      </p:sp>
      <p:sp>
        <p:nvSpPr>
          <p:cNvPr id="3" name="Rectangle 2"/>
          <p:cNvSpPr/>
          <p:nvPr>
            <p:custDataLst>
              <p:tags r:id="rId2"/>
            </p:custDataLst>
          </p:nvPr>
        </p:nvSpPr>
        <p:spPr bwMode="auto">
          <a:xfrm>
            <a:off x="165100" y="6647180"/>
            <a:ext cx="57150" cy="12192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r>
              <a:rPr kumimoji="0" lang="en-AU" sz="800" i="0" u="none" strike="noStrike" cap="none" normalizeH="0" baseline="0">
                <a:ln>
                  <a:noFill/>
                </a:ln>
                <a:solidFill>
                  <a:srgbClr val="53565A"/>
                </a:solidFill>
                <a:effectLst/>
                <a:latin typeface="Arial" pitchFamily="34" charset="0"/>
                <a:ea typeface="+mj-ea"/>
              </a:rPr>
              <a:t>1</a:t>
            </a:r>
            <a:endParaRPr kumimoji="0" lang="en-AU" sz="800" i="0" u="none" strike="noStrike" cap="none" normalizeH="0" baseline="0" dirty="0">
              <a:ln>
                <a:noFill/>
              </a:ln>
              <a:solidFill>
                <a:srgbClr val="53565A"/>
              </a:solidFill>
              <a:effectLst/>
              <a:latin typeface="Arial" pitchFamily="34" charset="0"/>
              <a:ea typeface="+mj-ea"/>
            </a:endParaRPr>
          </a:p>
        </p:txBody>
      </p:sp>
      <p:sp>
        <p:nvSpPr>
          <p:cNvPr id="16" name="Rectangle 15"/>
          <p:cNvSpPr/>
          <p:nvPr/>
        </p:nvSpPr>
        <p:spPr bwMode="gray">
          <a:xfrm>
            <a:off x="160336" y="3822594"/>
            <a:ext cx="4617851" cy="2488558"/>
          </a:xfrm>
          <a:prstGeom prst="rect">
            <a:avLst/>
          </a:prstGeom>
          <a:solidFill>
            <a:schemeClr val="folHlink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ヒラギノ角ゴ Pro W3" pitchFamily="124" charset="-128"/>
              </a:rPr>
              <a:t>Based on publicly</a:t>
            </a:r>
            <a:r>
              <a:rPr kumimoji="0" lang="en-AU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ヒラギノ角ゴ Pro W3" pitchFamily="124" charset="-128"/>
              </a:rPr>
              <a:t> available data, show th</a:t>
            </a:r>
            <a:r>
              <a:rPr lang="en-AU" dirty="0"/>
              <a:t>e h</a:t>
            </a:r>
            <a:r>
              <a:rPr kumimoji="0" lang="en-A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ヒラギノ角ゴ Pro W3" pitchFamily="124" charset="-128"/>
              </a:rPr>
              <a:t>ighest</a:t>
            </a:r>
            <a:r>
              <a:rPr kumimoji="0" lang="en-AU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ヒラギノ角ゴ Pro W3" pitchFamily="124" charset="-128"/>
              </a:rPr>
              <a:t> grossing mobile games by revenue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baseline="0" dirty="0"/>
              <a:t>(only top 3 or 4 required)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sz="14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124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ヒラギノ角ゴ Pro W3" pitchFamily="124" charset="-128"/>
              </a:rPr>
              <a:t>  1.POKEMON GO</a:t>
            </a:r>
          </a:p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AU" baseline="0" dirty="0"/>
              <a:t>         2.Candy Crush SAGA</a:t>
            </a:r>
            <a:endParaRPr lang="en-AU" dirty="0"/>
          </a:p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AU" dirty="0"/>
              <a:t>  3. Clash of Clans</a:t>
            </a:r>
          </a:p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AU" baseline="0" dirty="0"/>
              <a:t>4. PUBG Mobile</a:t>
            </a:r>
          </a:p>
        </p:txBody>
      </p:sp>
      <p:sp>
        <p:nvSpPr>
          <p:cNvPr id="17" name="Rectangle 16"/>
          <p:cNvSpPr/>
          <p:nvPr/>
        </p:nvSpPr>
        <p:spPr bwMode="gray">
          <a:xfrm>
            <a:off x="151201" y="1385990"/>
            <a:ext cx="4651017" cy="32932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6213" indent="-176213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Symbol" panose="05050102010706020507" pitchFamily="18" charset="2"/>
              <a:buChar char="·"/>
              <a:defRPr/>
            </a:pP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[Instruction: insert key bullets here on the online mobile gaming industry, including key facts around industry size, growth profile, etc. based on publicly available information]</a:t>
            </a:r>
          </a:p>
          <a:p>
            <a:pPr marL="361950" lvl="1" indent="-196850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–"/>
              <a:tabLst>
                <a:tab pos="361950" algn="l"/>
              </a:tabLst>
              <a:defRPr/>
            </a:pP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According to the </a:t>
            </a:r>
            <a:r>
              <a:rPr lang="en-AU" sz="1000" dirty="0" err="1">
                <a:solidFill>
                  <a:srgbClr val="53565A"/>
                </a:solidFill>
                <a:latin typeface="Arial"/>
                <a:ea typeface="ヒラギノ角ゴ Pro W3"/>
              </a:rPr>
              <a:t>Newzoos</a:t>
            </a: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 prediction, by 2021, consumer spending on games will be about $180 billion.</a:t>
            </a:r>
          </a:p>
          <a:p>
            <a:pPr marL="361950" lvl="1" indent="-196850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–"/>
              <a:tabLst>
                <a:tab pos="361950" algn="l"/>
              </a:tabLst>
              <a:defRPr/>
            </a:pP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The revenues for video games(mobile, consoles, etc) surpassed those of the music and film industries.</a:t>
            </a:r>
          </a:p>
          <a:p>
            <a:pPr marL="361950" lvl="1" indent="-196850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–"/>
              <a:tabLst>
                <a:tab pos="361950" algn="l"/>
              </a:tabLst>
              <a:defRPr/>
            </a:pP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According to 2018 statistics, </a:t>
            </a:r>
            <a:r>
              <a:rPr lang="en-AU" sz="1000" dirty="0" err="1">
                <a:solidFill>
                  <a:srgbClr val="53565A"/>
                </a:solidFill>
                <a:latin typeface="Arial"/>
                <a:ea typeface="ヒラギノ角ゴ Pro W3"/>
              </a:rPr>
              <a:t>Pokemon</a:t>
            </a: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 GO alone has generated $2 million revenue.</a:t>
            </a:r>
          </a:p>
          <a:p>
            <a:pPr marL="361950" lvl="1" indent="-196850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–"/>
              <a:tabLst>
                <a:tab pos="361950" algn="l"/>
              </a:tabLst>
              <a:defRPr/>
            </a:pPr>
            <a:r>
              <a:rPr lang="en-US" sz="1000" dirty="0"/>
              <a:t>Asia-Pacific Makes up Almost Half of Global Games Market.</a:t>
            </a:r>
          </a:p>
          <a:p>
            <a:pPr marL="361950" lvl="1" indent="-196850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–"/>
              <a:tabLst>
                <a:tab pos="361950" algn="l"/>
              </a:tabLst>
              <a:defRPr/>
            </a:pPr>
            <a:r>
              <a:rPr lang="en-US" dirty="0"/>
              <a:t> </a:t>
            </a:r>
            <a:r>
              <a:rPr lang="en-US" sz="1100" dirty="0"/>
              <a:t>2.4 Billion People Globally Expected to Play Mobile Games in 2019</a:t>
            </a:r>
            <a:endParaRPr lang="en-US" dirty="0"/>
          </a:p>
          <a:p>
            <a:pPr marL="361950" lvl="1" indent="-196850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–"/>
              <a:tabLst>
                <a:tab pos="361950" algn="l"/>
              </a:tabLst>
              <a:defRPr/>
            </a:pPr>
            <a:endParaRPr lang="en-US" sz="1000" dirty="0"/>
          </a:p>
          <a:p>
            <a:pPr marL="361950" lvl="1" indent="-196850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–"/>
              <a:tabLst>
                <a:tab pos="361950" algn="l"/>
              </a:tabLst>
              <a:defRPr/>
            </a:pPr>
            <a:endParaRPr lang="en-AU" sz="1000" dirty="0">
              <a:solidFill>
                <a:srgbClr val="53565A"/>
              </a:solidFill>
              <a:latin typeface="Arial"/>
              <a:ea typeface="ヒラギノ角ゴ Pro W3"/>
            </a:endParaRPr>
          </a:p>
          <a:p>
            <a:pPr marL="361950" lvl="1" indent="-196850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–"/>
              <a:tabLst>
                <a:tab pos="361950" algn="l"/>
              </a:tabLst>
              <a:defRPr/>
            </a:pPr>
            <a:endParaRPr lang="en-AU" sz="1000" dirty="0">
              <a:solidFill>
                <a:srgbClr val="53565A"/>
              </a:solidFill>
              <a:latin typeface="Arial"/>
              <a:ea typeface="ヒラギノ角ゴ Pro W3"/>
            </a:endParaRPr>
          </a:p>
          <a:p>
            <a:pPr marL="361950" lvl="1" indent="-196850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–"/>
              <a:tabLst>
                <a:tab pos="361950" algn="l"/>
              </a:tabLst>
              <a:defRPr/>
            </a:pPr>
            <a:endParaRPr lang="en-AU" sz="1000" dirty="0">
              <a:solidFill>
                <a:srgbClr val="53565A"/>
              </a:solidFill>
              <a:latin typeface="Arial"/>
              <a:ea typeface="ヒラギノ角ゴ Pro W3"/>
            </a:endParaRP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gray">
          <a:xfrm>
            <a:off x="160337" y="1168461"/>
            <a:ext cx="121988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100" b="1" dirty="0">
                <a:solidFill>
                  <a:srgbClr val="002D72"/>
                </a:solidFill>
                <a:latin typeface="Arial"/>
                <a:ea typeface="ヒラギノ角ゴ Pro W3"/>
              </a:rPr>
              <a:t>Industry overview</a:t>
            </a:r>
            <a:endParaRPr lang="en-US" altLang="en-US" sz="1100" dirty="0">
              <a:solidFill>
                <a:srgbClr val="002D72"/>
              </a:solidFill>
              <a:latin typeface="Arial"/>
              <a:ea typeface="ヒラギノ角ゴ Pro W3"/>
            </a:endParaRPr>
          </a:p>
        </p:txBody>
      </p:sp>
      <p:sp>
        <p:nvSpPr>
          <p:cNvPr id="21" name="Rectangle 20"/>
          <p:cNvSpPr/>
          <p:nvPr/>
        </p:nvSpPr>
        <p:spPr bwMode="gray">
          <a:xfrm>
            <a:off x="5095525" y="4073101"/>
            <a:ext cx="4656860" cy="20518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6213" indent="-176213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Symbol" panose="05050102010706020507" pitchFamily="18" charset="2"/>
              <a:buChar char="·"/>
              <a:defRPr/>
            </a:pP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[Instruction: insert succinct bullets articulating your views on the strategic rationale and considerations for Atlas Gaming to acquire Prometheus]</a:t>
            </a:r>
          </a:p>
          <a:p>
            <a:pPr marL="176213" indent="-176213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Symbol" panose="05050102010706020507" pitchFamily="18" charset="2"/>
              <a:buChar char="·"/>
              <a:defRPr/>
            </a:pP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[Articulation of the strategic rationale and considerations is an important task which clearly states why a company should acquire the target company. This is typically presented to the acquiring company’s Board to seek endorsement / approval to proceed. Multiple elements would feed into these points.</a:t>
            </a:r>
          </a:p>
          <a:p>
            <a:pPr marL="176213" indent="-176213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Symbol" panose="05050102010706020507" pitchFamily="18" charset="2"/>
              <a:buChar char="·"/>
              <a:defRPr/>
            </a:pP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THE REASONS FOR ATLAS GAMING TO AQUIRE PROMETHEUS IS:</a:t>
            </a:r>
          </a:p>
          <a:p>
            <a:pPr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defRPr/>
            </a:pP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      1. more resources available.</a:t>
            </a:r>
          </a:p>
          <a:p>
            <a:pPr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defRPr/>
            </a:pP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      2. Greater capacity</a:t>
            </a:r>
          </a:p>
          <a:p>
            <a:pPr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defRPr/>
            </a:pP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      3. increased technical expertise</a:t>
            </a:r>
          </a:p>
        </p:txBody>
      </p:sp>
      <p:sp>
        <p:nvSpPr>
          <p:cNvPr id="22" name="TextBox 25"/>
          <p:cNvSpPr txBox="1">
            <a:spLocks noChangeArrowheads="1"/>
          </p:cNvSpPr>
          <p:nvPr/>
        </p:nvSpPr>
        <p:spPr bwMode="gray">
          <a:xfrm>
            <a:off x="5104661" y="3855573"/>
            <a:ext cx="255999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100" b="1" dirty="0">
                <a:solidFill>
                  <a:srgbClr val="002D72"/>
                </a:solidFill>
                <a:latin typeface="Arial"/>
                <a:ea typeface="ヒラギノ角ゴ Pro W3"/>
              </a:rPr>
              <a:t>Strategic rationale and considerations</a:t>
            </a:r>
            <a:endParaRPr lang="en-US" altLang="en-US" sz="1100" dirty="0">
              <a:solidFill>
                <a:srgbClr val="002D72"/>
              </a:solidFill>
              <a:latin typeface="Arial"/>
              <a:ea typeface="ヒラギノ角ゴ Pro W3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86204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ppLayout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ppLayoutObjec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PageNb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txtPageMessage"/>
</p:tagLst>
</file>

<file path=ppt/theme/theme1.xml><?xml version="1.0" encoding="utf-8"?>
<a:theme xmlns:a="http://schemas.openxmlformats.org/drawingml/2006/main" name="174_ICG_Pres (A4)">
  <a:themeElements>
    <a:clrScheme name="ICG_Pres (A4) 1">
      <a:dk1>
        <a:srgbClr val="53565A"/>
      </a:dk1>
      <a:lt1>
        <a:srgbClr val="FFFFFF"/>
      </a:lt1>
      <a:dk2>
        <a:srgbClr val="97999B"/>
      </a:dk2>
      <a:lt2>
        <a:srgbClr val="53565A"/>
      </a:lt2>
      <a:accent1>
        <a:srgbClr val="002D72"/>
      </a:accent1>
      <a:accent2>
        <a:srgbClr val="99ABC7"/>
      </a:accent2>
      <a:accent3>
        <a:srgbClr val="00BDF2"/>
      </a:accent3>
      <a:accent4>
        <a:srgbClr val="99E4FA"/>
      </a:accent4>
      <a:accent5>
        <a:srgbClr val="53565A"/>
      </a:accent5>
      <a:accent6>
        <a:srgbClr val="97999B"/>
      </a:accent6>
      <a:hlink>
        <a:srgbClr val="00BDF2"/>
      </a:hlink>
      <a:folHlink>
        <a:srgbClr val="99DFE3"/>
      </a:folHlink>
    </a:clrScheme>
    <a:fontScheme name="ICG Fonts">
      <a:majorFont>
        <a:latin typeface="Arial"/>
        <a:ea typeface="STKaiti"/>
        <a:cs typeface=""/>
      </a:majorFont>
      <a:minorFont>
        <a:latin typeface="Arial"/>
        <a:ea typeface="STKait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folHlink"/>
        </a:solidFill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+mj-ea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ヒラギノ角ゴ Pro W3" pitchFamily="124" charset="-128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aseline="0" dirty="0">
            <a:ea typeface="+mj-ea"/>
          </a:defRPr>
        </a:defPPr>
      </a:lstStyle>
    </a:txDef>
  </a:objectDefaults>
  <a:extraClrSchemeLst>
    <a:extraClrScheme>
      <a:clrScheme name="ICG_Pres (A4) 1">
        <a:dk1>
          <a:srgbClr val="53565A"/>
        </a:dk1>
        <a:lt1>
          <a:srgbClr val="FFFFFF"/>
        </a:lt1>
        <a:dk2>
          <a:srgbClr val="97999B"/>
        </a:dk2>
        <a:lt2>
          <a:srgbClr val="53565A"/>
        </a:lt2>
        <a:accent1>
          <a:srgbClr val="002D72"/>
        </a:accent1>
        <a:accent2>
          <a:srgbClr val="99ABC7"/>
        </a:accent2>
        <a:accent3>
          <a:srgbClr val="FFFFFF"/>
        </a:accent3>
        <a:accent4>
          <a:srgbClr val="46484C"/>
        </a:accent4>
        <a:accent5>
          <a:srgbClr val="AAADBC"/>
        </a:accent5>
        <a:accent6>
          <a:srgbClr val="8A9BB4"/>
        </a:accent6>
        <a:hlink>
          <a:srgbClr val="00BDF2"/>
        </a:hlink>
        <a:folHlink>
          <a:srgbClr val="99E4F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Aqua">
      <a:srgbClr val="00B0B9"/>
    </a:custClr>
    <a:custClr name="Aqua Tint">
      <a:srgbClr val="99DFE3"/>
    </a:custClr>
    <a:custClr name="Goldenrod">
      <a:srgbClr val="C99700"/>
    </a:custClr>
    <a:custClr name="Goldenrod Tint">
      <a:srgbClr val="E9D599"/>
    </a:custClr>
    <a:custClr name="Forest">
      <a:srgbClr val="00843D"/>
    </a:custClr>
    <a:custClr name="Forest Tint">
      <a:srgbClr val="66B797"/>
    </a:custClr>
    <a:custClr name="Plum">
      <a:srgbClr val="890C58"/>
    </a:custClr>
    <a:custClr name="Plum Tint">
      <a:srgbClr val="B37A9F"/>
    </a:custClr>
    <a:custClr name="Olive">
      <a:srgbClr val="949300"/>
    </a:custClr>
    <a:custClr name="Olive Tint">
      <a:srgbClr val="D4D499"/>
    </a:custClr>
    <a:custClr name="Teal">
      <a:srgbClr val="007377"/>
    </a:custClr>
    <a:custClr name="Teal Tint">
      <a:srgbClr val="99C7C9"/>
    </a:custClr>
    <a:custClr name="Tangerine">
      <a:srgbClr val="ED8B00"/>
    </a:custClr>
    <a:custClr name="Tangerine Tint">
      <a:srgbClr val="F8D199"/>
    </a:custClr>
    <a:custClr name="Purple">
      <a:srgbClr val="6B3077"/>
    </a:custClr>
    <a:custClr name="Purple Tint">
      <a:srgbClr val="C4ACC9"/>
    </a:custClr>
    <a:custClr name="Green">
      <a:srgbClr val="84BD00"/>
    </a:custClr>
    <a:custClr name="Green Tint">
      <a:srgbClr val="CEE599"/>
    </a:custClr>
    <a:custClr name="White">
      <a:srgbClr val="FFFFFF"/>
    </a:custClr>
    <a:custClr name="White">
      <a:srgbClr val="FFFFFF"/>
    </a:custClr>
    <a:custClr name="Burnt Orange">
      <a:srgbClr val="CB6015"/>
    </a:custClr>
    <a:custClr name="Citi Cyan Tint (20%)">
      <a:srgbClr val="CCF2FC"/>
    </a:custClr>
    <a:custClr name="Citi Light Gray Tint(20%)">
      <a:srgbClr val="EAEBEB"/>
    </a:custClr>
  </a:custClr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8599A6104DC34A9C37FAE2DED8D6E9" ma:contentTypeVersion="0" ma:contentTypeDescription="Create a new document." ma:contentTypeScope="" ma:versionID="19877f96bfaf4df934f35472f40ea0d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8F8A91-D28D-4B45-A599-44E81D535F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B160343-857B-421C-B78C-26DAF858986D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4ECFC81-07E9-4AA1-B0A1-D3E5048D24F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ICG_Pres(A4)</Template>
  <TotalTime>22968</TotalTime>
  <Words>419</Words>
  <Application>Microsoft Office PowerPoint</Application>
  <PresentationFormat>A4 Paper (210x297 mm)</PresentationFormat>
  <Paragraphs>34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Symbol</vt:lpstr>
      <vt:lpstr>174_ICG_Pres (A4)</vt:lpstr>
      <vt:lpstr>Prometheus acquisition  Atlas Gaming</vt:lpstr>
      <vt:lpstr>Industry overview and strategic rationale</vt:lpstr>
    </vt:vector>
  </TitlesOfParts>
  <Company>Citigroup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Casper, Peter [ICG-CIB]</dc:creator>
  <cp:lastModifiedBy>T.P.V.S. ANIRUDH</cp:lastModifiedBy>
  <cp:revision>1697</cp:revision>
  <cp:lastPrinted>2018-10-30T01:55:39Z</cp:lastPrinted>
  <dcterms:created xsi:type="dcterms:W3CDTF">2017-05-05T01:00:02Z</dcterms:created>
  <dcterms:modified xsi:type="dcterms:W3CDTF">2019-12-19T07:03:15Z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B_DisclaimerDB">
    <vt:bool>true</vt:bool>
  </property>
  <property fmtid="{D5CDD505-2E9C-101B-9397-08002B2CF9AE}" pid="3" name="ICGToolkitIsDisclaimer">
    <vt:bool>false</vt:bool>
  </property>
  <property fmtid="{D5CDD505-2E9C-101B-9397-08002B2CF9AE}" pid="4" name="ContentTypeId">
    <vt:lpwstr>0x010100628599A6104DC34A9C37FAE2DED8D6E9</vt:lpwstr>
  </property>
  <property fmtid="{D5CDD505-2E9C-101B-9397-08002B2CF9AE}" pid="5" name="SectionTitleAlign">
    <vt:lpwstr>L</vt:lpwstr>
  </property>
  <property fmtid="{D5CDD505-2E9C-101B-9397-08002B2CF9AE}" pid="6" name="PageNumberTop">
    <vt:lpwstr>523.4</vt:lpwstr>
  </property>
  <property fmtid="{D5CDD505-2E9C-101B-9397-08002B2CF9AE}" pid="7" name="PageNumberLeft">
    <vt:lpwstr>13</vt:lpwstr>
  </property>
  <property fmtid="{D5CDD505-2E9C-101B-9397-08002B2CF9AE}" pid="8" name="PageNumberCentre">
    <vt:lpwstr>390</vt:lpwstr>
  </property>
  <property fmtid="{D5CDD505-2E9C-101B-9397-08002B2CF9AE}" pid="9" name="PageNumSectionTitleDiff">
    <vt:lpwstr>20</vt:lpwstr>
  </property>
  <property fmtid="{D5CDD505-2E9C-101B-9397-08002B2CF9AE}" pid="10" name="SectionTitleTop">
    <vt:lpwstr>523.4</vt:lpwstr>
  </property>
  <property fmtid="{D5CDD505-2E9C-101B-9397-08002B2CF9AE}" pid="11" name="SectionTitleLeft">
    <vt:lpwstr>33</vt:lpwstr>
  </property>
  <property fmtid="{D5CDD505-2E9C-101B-9397-08002B2CF9AE}" pid="12" name="PageNumAlign">
    <vt:lpwstr>L</vt:lpwstr>
  </property>
  <property fmtid="{D5CDD505-2E9C-101B-9397-08002B2CF9AE}" pid="13" name="TOCOpt">
    <vt:lpwstr>1</vt:lpwstr>
  </property>
  <property fmtid="{D5CDD505-2E9C-101B-9397-08002B2CF9AE}" pid="14" name="PNSOpt">
    <vt:lpwstr>1</vt:lpwstr>
  </property>
  <property fmtid="{D5CDD505-2E9C-101B-9397-08002B2CF9AE}" pid="15" name="Is_Custom_Template">
    <vt:lpwstr>false</vt:lpwstr>
  </property>
  <property fmtid="{D5CDD505-2E9C-101B-9397-08002B2CF9AE}" pid="16" name="TOCHeaderTop">
    <vt:lpwstr>0</vt:lpwstr>
  </property>
  <property fmtid="{D5CDD505-2E9C-101B-9397-08002B2CF9AE}" pid="17" name="TOCHeaderLeft">
    <vt:lpwstr>0</vt:lpwstr>
  </property>
  <property fmtid="{D5CDD505-2E9C-101B-9397-08002B2CF9AE}" pid="18" name="CitiLogoTop">
    <vt:lpwstr>0</vt:lpwstr>
  </property>
  <property fmtid="{D5CDD505-2E9C-101B-9397-08002B2CF9AE}" pid="19" name="CitiLogoLeft">
    <vt:lpwstr>0</vt:lpwstr>
  </property>
  <property fmtid="{D5CDD505-2E9C-101B-9397-08002B2CF9AE}" pid="20" name="Pitchbook Compatible">
    <vt:lpwstr>Yes</vt:lpwstr>
  </property>
</Properties>
</file>