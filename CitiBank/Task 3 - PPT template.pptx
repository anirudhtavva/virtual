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7" r:id="rId4"/>
  </p:sldMasterIdLst>
  <p:notesMasterIdLst>
    <p:notesMasterId r:id="rId7"/>
  </p:notesMasterIdLst>
  <p:handoutMasterIdLst>
    <p:handoutMasterId r:id="rId8"/>
  </p:handoutMasterIdLst>
  <p:sldIdLst>
    <p:sldId id="1006" r:id="rId5"/>
    <p:sldId id="1025" r:id="rId6"/>
  </p:sldIdLst>
  <p:sldSz cx="9906000" cy="6858000" type="A4"/>
  <p:notesSz cx="6896100" cy="9931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341">
          <p15:clr>
            <a:srgbClr val="A4A3A4"/>
          </p15:clr>
        </p15:guide>
        <p15:guide id="3" orient="horz" pos="294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816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2256" userDrawn="1">
          <p15:clr>
            <a:srgbClr val="A4A3A4"/>
          </p15:clr>
        </p15:guide>
        <p15:guide id="8" orient="horz" pos="432">
          <p15:clr>
            <a:srgbClr val="A4A3A4"/>
          </p15:clr>
        </p15:guide>
        <p15:guide id="9" orient="horz" pos="2448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3" pos="95">
          <p15:clr>
            <a:srgbClr val="A4A3A4"/>
          </p15:clr>
        </p15:guide>
        <p15:guide id="14" pos="6144" userDrawn="1">
          <p15:clr>
            <a:srgbClr val="A4A3A4"/>
          </p15:clr>
        </p15:guide>
        <p15:guide id="15" pos="3024" userDrawn="1">
          <p15:clr>
            <a:srgbClr val="A4A3A4"/>
          </p15:clr>
        </p15:guide>
        <p15:guide id="16" pos="3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  <a:srgbClr val="F0F2F6"/>
    <a:srgbClr val="040404"/>
    <a:srgbClr val="EBEEF4"/>
    <a:srgbClr val="00BDF2"/>
    <a:srgbClr val="CCF2FC"/>
    <a:srgbClr val="99ABC7"/>
    <a:srgbClr val="97999B"/>
    <a:srgbClr val="53565A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9800" autoAdjust="0"/>
  </p:normalViewPr>
  <p:slideViewPr>
    <p:cSldViewPr snapToGrid="0">
      <p:cViewPr varScale="1">
        <p:scale>
          <a:sx n="86" d="100"/>
          <a:sy n="86" d="100"/>
        </p:scale>
        <p:origin x="1176" y="67"/>
      </p:cViewPr>
      <p:guideLst>
        <p:guide orient="horz" pos="2341"/>
        <p:guide orient="horz" pos="294"/>
        <p:guide orient="horz" pos="672"/>
        <p:guide orient="horz" pos="816"/>
        <p:guide orient="horz" pos="3888"/>
        <p:guide orient="horz" pos="2256"/>
        <p:guide orient="horz" pos="432"/>
        <p:guide orient="horz" pos="2448"/>
        <p:guide pos="3120"/>
        <p:guide pos="95"/>
        <p:guide pos="6144"/>
        <p:guide pos="3024"/>
        <p:guide pos="3216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NIRUDH\Documents\Task%203%20-%20DCF%20Basic%20outlin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D72"/>
            </a:solidFill>
            <a:ln w="2540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>
                    <a:solidFill>
                      <a:srgbClr val="53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'[Task 3 - DCF Basic outline.xlsx]Charts'!$C$21:$C$23</c:f>
              <c:strCache>
                <c:ptCount val="3"/>
                <c:pt idx="0">
                  <c:v>DCF</c:v>
                </c:pt>
                <c:pt idx="1">
                  <c:v>Transaction / trading comps</c:v>
                </c:pt>
                <c:pt idx="2">
                  <c:v>Blended valuation</c:v>
                </c:pt>
              </c:strCache>
            </c:strRef>
          </c:cat>
          <c:val>
            <c:numRef>
              <c:f>'[Task 3 - DCF Basic outline.xlsx]Charts'!$E$21:$E$23</c:f>
              <c:numCache>
                <c:formatCode>#,##0;\(#,##0\);\-</c:formatCode>
                <c:ptCount val="3"/>
                <c:pt idx="0">
                  <c:v>1178</c:v>
                </c:pt>
                <c:pt idx="1">
                  <c:v>660</c:v>
                </c:pt>
                <c:pt idx="2">
                  <c:v>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A8-4840-8710-5DDB9DB49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1060468448"/>
        <c:axId val="1060472056"/>
      </c:barChart>
      <c:catAx>
        <c:axId val="106046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53565A"/>
            </a:solidFill>
            <a:prstDash val="solid"/>
          </a:ln>
        </c:spPr>
        <c:txPr>
          <a:bodyPr rot="0" vert="horz"/>
          <a:lstStyle/>
          <a:p>
            <a:pPr>
              <a:defRPr sz="1000" b="0" i="0">
                <a:solidFill>
                  <a:srgbClr val="53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60472056"/>
        <c:crosses val="autoZero"/>
        <c:auto val="1"/>
        <c:lblAlgn val="ctr"/>
        <c:lblOffset val="100"/>
        <c:noMultiLvlLbl val="0"/>
      </c:catAx>
      <c:valAx>
        <c:axId val="1060472056"/>
        <c:scaling>
          <c:orientation val="minMax"/>
        </c:scaling>
        <c:delete val="0"/>
        <c:axPos val="l"/>
        <c:numFmt formatCode="#,##0;\(#,##0\);\-" sourceLinked="1"/>
        <c:majorTickMark val="none"/>
        <c:minorTickMark val="none"/>
        <c:tickLblPos val="none"/>
        <c:spPr>
          <a:ln w="12700">
            <a:noFill/>
            <a:prstDash val="solid"/>
          </a:ln>
        </c:spPr>
        <c:txPr>
          <a:bodyPr rot="0" vert="horz"/>
          <a:lstStyle/>
          <a:p>
            <a:pPr>
              <a:defRPr sz="800" b="0" i="0">
                <a:solidFill>
                  <a:srgbClr val="53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6046844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146" y="3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997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146" y="9442997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7791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8825" y="746125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003" y="4717535"/>
            <a:ext cx="5520095" cy="44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7791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0413" y="747713"/>
            <a:ext cx="537527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428FF-E08F-45DE-BAC9-258D4444EC1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51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citi-r_2c-blu_pos_rg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152400" y="3429000"/>
            <a:ext cx="9601200" cy="9906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hlink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152400" y="2632043"/>
            <a:ext cx="9601200" cy="492443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59487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890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1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8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6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52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14"/>
          <p:cNvSpPr>
            <a:spLocks noChangeShapeType="1"/>
          </p:cNvSpPr>
          <p:nvPr/>
        </p:nvSpPr>
        <p:spPr bwMode="auto">
          <a:xfrm>
            <a:off x="146049" y="4572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sp>
        <p:nvSpPr>
          <p:cNvPr id="14339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0" name="Line 11"/>
          <p:cNvSpPr>
            <a:spLocks noChangeShapeType="1"/>
          </p:cNvSpPr>
          <p:nvPr/>
        </p:nvSpPr>
        <p:spPr bwMode="auto">
          <a:xfrm>
            <a:off x="146049" y="64008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pic>
        <p:nvPicPr>
          <p:cNvPr id="14341" name="Picture 9" descr="citi-r_2c-blu_pos_rgb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83"/>
          <p:cNvSpPr>
            <a:spLocks noGrp="1" noChangeArrowheads="1"/>
          </p:cNvSpPr>
          <p:nvPr>
            <p:ph type="title"/>
          </p:nvPr>
        </p:nvSpPr>
        <p:spPr bwMode="gray">
          <a:xfrm>
            <a:off x="152416" y="60326"/>
            <a:ext cx="9598025" cy="377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17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STKaiti" pitchFamily="2" charset="-122"/>
          <a:cs typeface="STKait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5pPr>
      <a:lvl6pPr marL="45498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09969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6496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1994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69863" indent="-169863" algn="l" defTabSz="1828800" rtl="0" eaLnBrk="0" fontAlgn="base" hangingPunct="0">
        <a:spcBef>
          <a:spcPct val="7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1pPr>
      <a:lvl2pPr marL="341313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2pPr>
      <a:lvl3pPr marL="514350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3pPr>
      <a:lvl4pPr marL="681038" indent="-165100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4pPr>
      <a:lvl5pPr marL="847725" indent="-16351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5pPr>
      <a:lvl6pPr marL="1303353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6pPr>
      <a:lvl7pPr marL="1758331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7pPr>
      <a:lvl8pPr marL="2213318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8pPr>
      <a:lvl9pPr marL="2668302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98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9969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496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994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4928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913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490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9891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chart" Target="../charts/char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gif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153063" y="3400064"/>
            <a:ext cx="9599877" cy="1354217"/>
          </a:xfrm>
          <a:noFill/>
        </p:spPr>
        <p:txBody>
          <a:bodyPr/>
          <a:lstStyle/>
          <a:p>
            <a:r>
              <a:rPr lang="en-AU" dirty="0"/>
              <a:t>Prometheus</a:t>
            </a:r>
            <a:r>
              <a:rPr lang="en-US" dirty="0"/>
              <a:t> acquisition</a:t>
            </a:r>
            <a:br>
              <a:rPr lang="en-US" dirty="0"/>
            </a:br>
            <a:br>
              <a:rPr lang="en-US" dirty="0"/>
            </a:br>
            <a:r>
              <a:rPr lang="en-US" sz="2400" i="1" dirty="0">
                <a:solidFill>
                  <a:schemeClr val="accent3"/>
                </a:solidFill>
              </a:rPr>
              <a:t>Atlas Gaming</a:t>
            </a:r>
          </a:p>
        </p:txBody>
      </p:sp>
      <p:sp>
        <p:nvSpPr>
          <p:cNvPr id="90118" name="Text Box 13"/>
          <p:cNvSpPr txBox="1">
            <a:spLocks noChangeArrowheads="1"/>
          </p:cNvSpPr>
          <p:nvPr/>
        </p:nvSpPr>
        <p:spPr bwMode="gray">
          <a:xfrm>
            <a:off x="153063" y="1177915"/>
            <a:ext cx="957236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eaLnBrk="1" hangingPunct="1"/>
            <a:r>
              <a:rPr lang="en-US" sz="1200" dirty="0">
                <a:solidFill>
                  <a:srgbClr val="53565A"/>
                </a:solidFill>
              </a:rPr>
              <a:t>July 2019</a:t>
            </a:r>
          </a:p>
        </p:txBody>
      </p:sp>
      <p:grpSp>
        <p:nvGrpSpPr>
          <p:cNvPr id="90133" name="Group 2"/>
          <p:cNvGrpSpPr>
            <a:grpSpLocks/>
          </p:cNvGrpSpPr>
          <p:nvPr/>
        </p:nvGrpSpPr>
        <p:grpSpPr bwMode="gray">
          <a:xfrm>
            <a:off x="-1720" y="0"/>
            <a:ext cx="9911160" cy="6858000"/>
            <a:chOff x="-1588" y="0"/>
            <a:chExt cx="9148763" cy="6858000"/>
          </a:xfrm>
        </p:grpSpPr>
        <p:pic>
          <p:nvPicPr>
            <p:cNvPr id="90134" name="Picture 1" descr="G:\CTS - (formerly GTS)\_CTS Templates\Pitchbook Covers\981531\Letter_Version\Archive\981531_CTS_Letter_wav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88" y="0"/>
              <a:ext cx="9148763" cy="102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gray">
            <a:xfrm>
              <a:off x="8229600" y="6400800"/>
              <a:ext cx="914400" cy="4572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dirty="0">
                <a:solidFill>
                  <a:srgbClr val="53565A"/>
                </a:solidFill>
                <a:ea typeface="+mj-ea"/>
              </a:endParaRPr>
            </a:p>
          </p:txBody>
        </p:sp>
      </p:grpSp>
      <p:sp>
        <p:nvSpPr>
          <p:cNvPr id="90136" name="Text Box 8"/>
          <p:cNvSpPr txBox="1">
            <a:spLocks noChangeArrowheads="1"/>
          </p:cNvSpPr>
          <p:nvPr/>
        </p:nvSpPr>
        <p:spPr bwMode="gray">
          <a:xfrm>
            <a:off x="161661" y="538261"/>
            <a:ext cx="83925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eaLnBrk="1" hangingPunct="1">
              <a:lnSpc>
                <a:spcPts val="2400"/>
              </a:lnSpc>
            </a:pPr>
            <a:r>
              <a:rPr lang="en-US" dirty="0">
                <a:solidFill>
                  <a:srgbClr val="FFFFFF"/>
                </a:solidFill>
              </a:rPr>
              <a:t>Institutional Clients Group | General Industrials &amp; Financial Sponsors</a:t>
            </a:r>
          </a:p>
        </p:txBody>
      </p:sp>
      <p:pic>
        <p:nvPicPr>
          <p:cNvPr id="15" name="Picture 11" descr="citi-r_1c-red_rev_rg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9043988" y="452438"/>
            <a:ext cx="763587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7100047" y="1138797"/>
            <a:ext cx="2513993" cy="94733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05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105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105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105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120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5"/>
          <p:cNvSpPr>
            <a:spLocks noGrp="1" noChangeArrowheads="1"/>
          </p:cNvSpPr>
          <p:nvPr>
            <p:ph type="title"/>
          </p:nvPr>
        </p:nvSpPr>
        <p:spPr bwMode="gray">
          <a:solidFill>
            <a:schemeClr val="bg1"/>
          </a:solidFill>
          <a:ln w="12700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dirty="0"/>
              <a:t>DCF model snapshot</a:t>
            </a:r>
            <a:endParaRPr lang="en-US" dirty="0"/>
          </a:p>
        </p:txBody>
      </p:sp>
      <p:pic>
        <p:nvPicPr>
          <p:cNvPr id="2050" name="Picture 2" descr="DYWIDAG-SYSTEMS INTERNATIONA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5575" y="-1365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 bwMode="gray">
          <a:xfrm>
            <a:off x="151200" y="668981"/>
            <a:ext cx="9601200" cy="391746"/>
            <a:chOff x="151200" y="668883"/>
            <a:chExt cx="9601200" cy="391746"/>
          </a:xfrm>
        </p:grpSpPr>
        <p:sp>
          <p:nvSpPr>
            <p:cNvPr id="8" name="MessageBox"/>
            <p:cNvSpPr/>
            <p:nvPr>
              <p:custDataLst>
                <p:tags r:id="rId3"/>
              </p:custDataLst>
            </p:nvPr>
          </p:nvSpPr>
          <p:spPr bwMode="gray">
            <a:xfrm>
              <a:off x="151200" y="668883"/>
              <a:ext cx="9601200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l"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BDF2"/>
                </a:solidFill>
                <a:effectLst/>
                <a:uLnTx/>
                <a:uFillTx/>
                <a:latin typeface="Arial"/>
                <a:ea typeface="STKaiti"/>
              </a:endParaRPr>
            </a:p>
          </p:txBody>
        </p:sp>
        <p:cxnSp>
          <p:nvCxnSpPr>
            <p:cNvPr id="9" name="MessageLine"/>
            <p:cNvCxnSpPr/>
            <p:nvPr/>
          </p:nvCxnSpPr>
          <p:spPr bwMode="gray">
            <a:xfrm>
              <a:off x="151200" y="1060629"/>
              <a:ext cx="9601200" cy="0"/>
            </a:xfrm>
            <a:prstGeom prst="line">
              <a:avLst/>
            </a:prstGeom>
            <a:solidFill>
              <a:schemeClr val="folHlink"/>
            </a:solidFill>
            <a:ln w="6350" cap="flat" cmpd="sng" algn="ctr">
              <a:solidFill>
                <a:srgbClr val="97999B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" name="Rectangle 12"/>
          <p:cNvSpPr/>
          <p:nvPr/>
        </p:nvSpPr>
        <p:spPr bwMode="auto">
          <a:xfrm>
            <a:off x="2392561" y="6492373"/>
            <a:ext cx="5120879" cy="27905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90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90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90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90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97150" y="495571"/>
            <a:ext cx="8912683" cy="409777"/>
          </a:xfrm>
          <a:prstGeom prst="rect">
            <a:avLst/>
          </a:prstGeom>
          <a:solidFill>
            <a:schemeClr val="accent6">
              <a:alpha val="20000"/>
            </a:schemeClr>
          </a:solidFill>
          <a:ln w="127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just"/>
            <a:r>
              <a:rPr lang="en-AU" sz="1200" dirty="0"/>
              <a:t>EV given by CitiBank is 1178 </a:t>
            </a:r>
            <a:r>
              <a:rPr lang="en-AU" sz="1200" dirty="0" err="1"/>
              <a:t>A$m</a:t>
            </a:r>
            <a:r>
              <a:rPr lang="en-AU" sz="1200" dirty="0"/>
              <a:t> against the given valuation of 1182 </a:t>
            </a:r>
            <a:r>
              <a:rPr lang="en-AU" sz="1200" dirty="0" err="1"/>
              <a:t>A$m</a:t>
            </a:r>
            <a:r>
              <a:rPr lang="en-AU" sz="1200" dirty="0"/>
              <a:t>. The estimated final blended valuation got is 919 </a:t>
            </a:r>
            <a:r>
              <a:rPr lang="en-AU" sz="1200" dirty="0" err="1"/>
              <a:t>A$m</a:t>
            </a:r>
            <a:r>
              <a:rPr lang="en-AU" sz="1200" dirty="0"/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200" b="0" i="1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ea typeface="+mj-ea"/>
              </a:rPr>
              <a:t>Acquisition price given recommended by CitiBank is 911A$M.</a:t>
            </a:r>
          </a:p>
        </p:txBody>
      </p:sp>
      <p:sp>
        <p:nvSpPr>
          <p:cNvPr id="16" name="Line 24"/>
          <p:cNvSpPr>
            <a:spLocks noChangeShapeType="1"/>
          </p:cNvSpPr>
          <p:nvPr/>
        </p:nvSpPr>
        <p:spPr bwMode="gray">
          <a:xfrm>
            <a:off x="4957252" y="1295399"/>
            <a:ext cx="0" cy="4876411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53565A"/>
              </a:solidFill>
              <a:latin typeface="Arial"/>
              <a:ea typeface="ヒラギノ角ゴ Pro W3"/>
            </a:endParaRPr>
          </a:p>
        </p:txBody>
      </p:sp>
      <p:sp>
        <p:nvSpPr>
          <p:cNvPr id="17" name="Line 2"/>
          <p:cNvSpPr>
            <a:spLocks noChangeShapeType="1"/>
          </p:cNvSpPr>
          <p:nvPr/>
        </p:nvSpPr>
        <p:spPr bwMode="gray">
          <a:xfrm flipV="1">
            <a:off x="5116709" y="3937561"/>
            <a:ext cx="4636891" cy="0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rial" pitchFamily="34" charset="0"/>
              <a:ea typeface="ヒラギノ角ゴ Pro W3" pitchFamily="124" charset="-128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 bwMode="gray">
          <a:xfrm>
            <a:off x="259673" y="1225911"/>
            <a:ext cx="4617851" cy="5073173"/>
          </a:xfrm>
          <a:prstGeom prst="rect">
            <a:avLst/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24" charset="-128"/>
            </a:endParaRPr>
          </a:p>
        </p:txBody>
      </p:sp>
      <p:sp>
        <p:nvSpPr>
          <p:cNvPr id="19" name="Rectangle 18"/>
          <p:cNvSpPr/>
          <p:nvPr/>
        </p:nvSpPr>
        <p:spPr bwMode="gray">
          <a:xfrm>
            <a:off x="4957252" y="1237979"/>
            <a:ext cx="4948745" cy="2605029"/>
          </a:xfrm>
          <a:prstGeom prst="rect">
            <a:avLst/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/>
              <a:t>1. As CPI value is 2.5%, terminal growth rate is also assumed</a:t>
            </a: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/>
              <a:t>as. 2.5%.</a:t>
            </a: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2. As per the current tax rates, tax rate value is assumed as 32% </a:t>
            </a: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and can be changed if the company has different tax values.</a:t>
            </a: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/>
              <a:t>3. WACC is taken as per the prevailing market rates which is 9.0%.</a:t>
            </a: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24" charset="-128"/>
            </a:endParaRPr>
          </a:p>
          <a:p>
            <a:pPr algn="just"/>
            <a:endParaRPr kumimoji="0" lang="en-A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24" charset="-128"/>
            </a:endParaRPr>
          </a:p>
        </p:txBody>
      </p:sp>
      <p:sp>
        <p:nvSpPr>
          <p:cNvPr id="20" name="Rectangle 19"/>
          <p:cNvSpPr/>
          <p:nvPr/>
        </p:nvSpPr>
        <p:spPr bwMode="gray">
          <a:xfrm>
            <a:off x="5105400" y="4051264"/>
            <a:ext cx="4617851" cy="2233995"/>
          </a:xfrm>
          <a:prstGeom prst="rect">
            <a:avLst/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24" charset="-128"/>
            </a:endParaRP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 bwMode="auto">
          <a:xfrm>
            <a:off x="165100" y="6647180"/>
            <a:ext cx="57150" cy="12192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AU" sz="800" i="0" u="none" strike="noStrike" cap="none" normalizeH="0" baseline="0">
                <a:ln>
                  <a:noFill/>
                </a:ln>
                <a:solidFill>
                  <a:srgbClr val="53565A"/>
                </a:solidFill>
                <a:effectLst/>
                <a:latin typeface="Arial" pitchFamily="34" charset="0"/>
                <a:ea typeface="+mj-ea"/>
              </a:rPr>
              <a:t>3</a:t>
            </a:r>
            <a:endParaRPr kumimoji="0" lang="en-AU" sz="800" i="0" u="none" strike="noStrike" cap="none" normalizeH="0" baseline="0" dirty="0">
              <a:ln>
                <a:noFill/>
              </a:ln>
              <a:solidFill>
                <a:srgbClr val="53565A"/>
              </a:solidFill>
              <a:effectLst/>
              <a:latin typeface="Arial" pitchFamily="34" charset="0"/>
              <a:ea typeface="+mj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B71EB0-A712-4EE0-9534-85D44A8E3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527739"/>
              </p:ext>
            </p:extLst>
          </p:nvPr>
        </p:nvGraphicFramePr>
        <p:xfrm>
          <a:off x="264603" y="1216107"/>
          <a:ext cx="4692649" cy="5082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9512">
                  <a:extLst>
                    <a:ext uri="{9D8B030D-6E8A-4147-A177-3AD203B41FA5}">
                      <a16:colId xmlns:a16="http://schemas.microsoft.com/office/drawing/2014/main" val="3720782892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2279956102"/>
                    </a:ext>
                  </a:extLst>
                </a:gridCol>
                <a:gridCol w="336662">
                  <a:extLst>
                    <a:ext uri="{9D8B030D-6E8A-4147-A177-3AD203B41FA5}">
                      <a16:colId xmlns:a16="http://schemas.microsoft.com/office/drawing/2014/main" val="1692814398"/>
                    </a:ext>
                  </a:extLst>
                </a:gridCol>
                <a:gridCol w="322920">
                  <a:extLst>
                    <a:ext uri="{9D8B030D-6E8A-4147-A177-3AD203B41FA5}">
                      <a16:colId xmlns:a16="http://schemas.microsoft.com/office/drawing/2014/main" val="3598377500"/>
                    </a:ext>
                  </a:extLst>
                </a:gridCol>
                <a:gridCol w="336662">
                  <a:extLst>
                    <a:ext uri="{9D8B030D-6E8A-4147-A177-3AD203B41FA5}">
                      <a16:colId xmlns:a16="http://schemas.microsoft.com/office/drawing/2014/main" val="1253307208"/>
                    </a:ext>
                  </a:extLst>
                </a:gridCol>
                <a:gridCol w="336662">
                  <a:extLst>
                    <a:ext uri="{9D8B030D-6E8A-4147-A177-3AD203B41FA5}">
                      <a16:colId xmlns:a16="http://schemas.microsoft.com/office/drawing/2014/main" val="2885269269"/>
                    </a:ext>
                  </a:extLst>
                </a:gridCol>
                <a:gridCol w="316050">
                  <a:extLst>
                    <a:ext uri="{9D8B030D-6E8A-4147-A177-3AD203B41FA5}">
                      <a16:colId xmlns:a16="http://schemas.microsoft.com/office/drawing/2014/main" val="2733443907"/>
                    </a:ext>
                  </a:extLst>
                </a:gridCol>
                <a:gridCol w="281696">
                  <a:extLst>
                    <a:ext uri="{9D8B030D-6E8A-4147-A177-3AD203B41FA5}">
                      <a16:colId xmlns:a16="http://schemas.microsoft.com/office/drawing/2014/main" val="3863025846"/>
                    </a:ext>
                  </a:extLst>
                </a:gridCol>
                <a:gridCol w="281696">
                  <a:extLst>
                    <a:ext uri="{9D8B030D-6E8A-4147-A177-3AD203B41FA5}">
                      <a16:colId xmlns:a16="http://schemas.microsoft.com/office/drawing/2014/main" val="3048757401"/>
                    </a:ext>
                  </a:extLst>
                </a:gridCol>
                <a:gridCol w="281696">
                  <a:extLst>
                    <a:ext uri="{9D8B030D-6E8A-4147-A177-3AD203B41FA5}">
                      <a16:colId xmlns:a16="http://schemas.microsoft.com/office/drawing/2014/main" val="3347459347"/>
                    </a:ext>
                  </a:extLst>
                </a:gridCol>
                <a:gridCol w="281696">
                  <a:extLst>
                    <a:ext uri="{9D8B030D-6E8A-4147-A177-3AD203B41FA5}">
                      <a16:colId xmlns:a16="http://schemas.microsoft.com/office/drawing/2014/main" val="2852747020"/>
                    </a:ext>
                  </a:extLst>
                </a:gridCol>
                <a:gridCol w="281696">
                  <a:extLst>
                    <a:ext uri="{9D8B030D-6E8A-4147-A177-3AD203B41FA5}">
                      <a16:colId xmlns:a16="http://schemas.microsoft.com/office/drawing/2014/main" val="2204507016"/>
                    </a:ext>
                  </a:extLst>
                </a:gridCol>
                <a:gridCol w="549651">
                  <a:extLst>
                    <a:ext uri="{9D8B030D-6E8A-4147-A177-3AD203B41FA5}">
                      <a16:colId xmlns:a16="http://schemas.microsoft.com/office/drawing/2014/main" val="287570435"/>
                    </a:ext>
                  </a:extLst>
                </a:gridCol>
              </a:tblGrid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u="none" strike="noStrike" dirty="0" err="1">
                          <a:effectLst/>
                        </a:rPr>
                        <a:t>A$m</a:t>
                      </a:r>
                      <a:r>
                        <a:rPr lang="es-ES" sz="800" u="none" strike="noStrike" dirty="0">
                          <a:effectLst/>
                        </a:rPr>
                        <a:t>, </a:t>
                      </a:r>
                      <a:r>
                        <a:rPr lang="es-ES" sz="800" u="none" strike="noStrike" dirty="0" err="1">
                          <a:effectLst/>
                        </a:rPr>
                        <a:t>Dec</a:t>
                      </a:r>
                      <a:r>
                        <a:rPr lang="es-ES" sz="800" u="none" strike="noStrike" dirty="0">
                          <a:effectLst/>
                        </a:rPr>
                        <a:t> y/e</a:t>
                      </a:r>
                      <a:endParaRPr lang="es-ES" sz="800" b="0" i="1" u="none" strike="noStrike" dirty="0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CY14A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CY15A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CY16A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CY17A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CY18A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CY19F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CY20F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CY21F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CY22F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CY23F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Terminal value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81388712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Revenue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378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435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470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508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551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2654009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EBITDA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94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109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117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127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138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6111815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% margin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%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25.0% 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25.0% 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25.0% 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25.0% 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25.0% 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4804357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Less D&amp;A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rgbClr val="002D7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64094668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EBIT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35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34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79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91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105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113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123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133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9627078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Less tax on EBIT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(11)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(2)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(11)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(18)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(25)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(29)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(33)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(36)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(39)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(43)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1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4965804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NOPAT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62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71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83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90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0283620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% margin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%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16.3% 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16.3% 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16.4% 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16.4% 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16.4% 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4322755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Add D&amp;A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893415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Less capex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(1)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(3)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(3)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(3)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(4)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2571574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Less </a:t>
                      </a:r>
                      <a:r>
                        <a:rPr lang="el-GR" sz="800" u="none" strike="noStrike">
                          <a:effectLst/>
                        </a:rPr>
                        <a:t>Δ </a:t>
                      </a:r>
                      <a:r>
                        <a:rPr lang="en-IN" sz="800" u="none" strike="noStrike">
                          <a:effectLst/>
                        </a:rPr>
                        <a:t>NWC 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-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-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-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(1)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(5)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(6)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(6)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(7)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2099843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Unlevered FCF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35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53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66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71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77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84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8173990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Year remaining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n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0.6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1.0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1.0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1.0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1.0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1708354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Unlevered FCF (timed)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35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66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77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84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1,320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9541351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Timing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n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0.31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1.31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2.31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3.31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4.31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4.31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66504526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Discount factor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n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1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0.97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0.89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0.82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0.75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0.69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0.69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6758436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DCF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1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34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59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911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4105135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6032544"/>
                  </a:ext>
                </a:extLst>
              </a:tr>
              <a:tr h="143471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Valuation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0600034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Discounted cash flows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267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9370498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Discounted TV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911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1593793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Enterprise value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1" i="1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1,178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7896946"/>
                  </a:ext>
                </a:extLst>
              </a:tr>
              <a:tr h="280110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CY18 EV / EBITDA</a:t>
                      </a:r>
                      <a:endParaRPr lang="en-IN" sz="800" b="1" i="0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x</a:t>
                      </a:r>
                      <a:endParaRPr lang="en-IN" sz="800" b="1" i="1" u="none" strike="noStrike">
                        <a:solidFill>
                          <a:srgbClr val="00BDF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u="none" strike="noStrike">
                          <a:effectLst/>
                        </a:rPr>
                        <a:t>14.3x</a:t>
                      </a:r>
                      <a:endParaRPr lang="en-IN" sz="800" b="1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3620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613F1D-89C1-4492-985D-A0E20B99F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35358"/>
              </p:ext>
            </p:extLst>
          </p:nvPr>
        </p:nvGraphicFramePr>
        <p:xfrm>
          <a:off x="5105399" y="4057137"/>
          <a:ext cx="3682999" cy="861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810">
                  <a:extLst>
                    <a:ext uri="{9D8B030D-6E8A-4147-A177-3AD203B41FA5}">
                      <a16:colId xmlns:a16="http://schemas.microsoft.com/office/drawing/2014/main" val="2119152168"/>
                    </a:ext>
                  </a:extLst>
                </a:gridCol>
                <a:gridCol w="1452251">
                  <a:extLst>
                    <a:ext uri="{9D8B030D-6E8A-4147-A177-3AD203B41FA5}">
                      <a16:colId xmlns:a16="http://schemas.microsoft.com/office/drawing/2014/main" val="2856798573"/>
                    </a:ext>
                  </a:extLst>
                </a:gridCol>
                <a:gridCol w="651107">
                  <a:extLst>
                    <a:ext uri="{9D8B030D-6E8A-4147-A177-3AD203B41FA5}">
                      <a16:colId xmlns:a16="http://schemas.microsoft.com/office/drawing/2014/main" val="1451214528"/>
                    </a:ext>
                  </a:extLst>
                </a:gridCol>
                <a:gridCol w="693570">
                  <a:extLst>
                    <a:ext uri="{9D8B030D-6E8A-4147-A177-3AD203B41FA5}">
                      <a16:colId xmlns:a16="http://schemas.microsoft.com/office/drawing/2014/main" val="723284083"/>
                    </a:ext>
                  </a:extLst>
                </a:gridCol>
                <a:gridCol w="665261">
                  <a:extLst>
                    <a:ext uri="{9D8B030D-6E8A-4147-A177-3AD203B41FA5}">
                      <a16:colId xmlns:a16="http://schemas.microsoft.com/office/drawing/2014/main" val="2771409679"/>
                    </a:ext>
                  </a:extLst>
                </a:gridCol>
              </a:tblGrid>
              <a:tr h="12954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Valuation summary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39949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48137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DCF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1,178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14.3x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87150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Transaction / trading comps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660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11.0x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29797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u="none" strike="noStrike">
                          <a:effectLst/>
                        </a:rPr>
                        <a:t>Blended valuation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A$m</a:t>
                      </a:r>
                      <a:endParaRPr lang="en-IN" sz="800" b="0" i="1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919</a:t>
                      </a:r>
                      <a:endParaRPr lang="en-IN" sz="800" b="0" i="0" u="none" strike="noStrike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12.7x</a:t>
                      </a:r>
                      <a:endParaRPr lang="en-IN" sz="80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5094128"/>
                  </a:ext>
                </a:extLst>
              </a:tr>
            </a:tbl>
          </a:graphicData>
        </a:graphic>
      </p:graphicFrame>
      <p:graphicFrame>
        <p:nvGraphicFramePr>
          <p:cNvPr id="23" name="COL-8135554282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622304"/>
              </p:ext>
            </p:extLst>
          </p:nvPr>
        </p:nvGraphicFramePr>
        <p:xfrm>
          <a:off x="5116708" y="4871214"/>
          <a:ext cx="4293125" cy="1427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836556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Objec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PageNb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174_ICG_Pres (A4)">
  <a:themeElements>
    <a:clrScheme name="ICG_Pres (A4) 1">
      <a:dk1>
        <a:srgbClr val="53565A"/>
      </a:dk1>
      <a:lt1>
        <a:srgbClr val="FFFFFF"/>
      </a:lt1>
      <a:dk2>
        <a:srgbClr val="97999B"/>
      </a:dk2>
      <a:lt2>
        <a:srgbClr val="53565A"/>
      </a:lt2>
      <a:accent1>
        <a:srgbClr val="002D72"/>
      </a:accent1>
      <a:accent2>
        <a:srgbClr val="99ABC7"/>
      </a:accent2>
      <a:accent3>
        <a:srgbClr val="00BDF2"/>
      </a:accent3>
      <a:accent4>
        <a:srgbClr val="99E4FA"/>
      </a:accent4>
      <a:accent5>
        <a:srgbClr val="53565A"/>
      </a:accent5>
      <a:accent6>
        <a:srgbClr val="97999B"/>
      </a:accent6>
      <a:hlink>
        <a:srgbClr val="00BDF2"/>
      </a:hlink>
      <a:folHlink>
        <a:srgbClr val="99DFE3"/>
      </a:folHlink>
    </a:clrScheme>
    <a:fontScheme name="ICG Fonts">
      <a:majorFont>
        <a:latin typeface="Arial"/>
        <a:ea typeface="STKaiti"/>
        <a:cs typeface=""/>
      </a:majorFont>
      <a:minorFont>
        <a:latin typeface="Arial"/>
        <a:ea typeface="STKait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124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>
    <a:extraClrScheme>
      <a:clrScheme name="ICG_Pres (A4) 1">
        <a:dk1>
          <a:srgbClr val="53565A"/>
        </a:dk1>
        <a:lt1>
          <a:srgbClr val="FFFFFF"/>
        </a:lt1>
        <a:dk2>
          <a:srgbClr val="97999B"/>
        </a:dk2>
        <a:lt2>
          <a:srgbClr val="53565A"/>
        </a:lt2>
        <a:accent1>
          <a:srgbClr val="002D72"/>
        </a:accent1>
        <a:accent2>
          <a:srgbClr val="99ABC7"/>
        </a:accent2>
        <a:accent3>
          <a:srgbClr val="FFFFFF"/>
        </a:accent3>
        <a:accent4>
          <a:srgbClr val="46484C"/>
        </a:accent4>
        <a:accent5>
          <a:srgbClr val="AAADBC"/>
        </a:accent5>
        <a:accent6>
          <a:srgbClr val="8A9BB4"/>
        </a:accent6>
        <a:hlink>
          <a:srgbClr val="00BDF2"/>
        </a:hlink>
        <a:folHlink>
          <a:srgbClr val="99E4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qua">
      <a:srgbClr val="00B0B9"/>
    </a:custClr>
    <a:custClr name="Aqua Tint">
      <a:srgbClr val="99DFE3"/>
    </a:custClr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66B797"/>
    </a:custClr>
    <a:custClr name="Plum">
      <a:srgbClr val="890C58"/>
    </a:custClr>
    <a:custClr name="Plum Tint">
      <a:srgbClr val="B37A9F"/>
    </a:custClr>
    <a:custClr name="Olive">
      <a:srgbClr val="949300"/>
    </a:custClr>
    <a:custClr name="Olive Tint">
      <a:srgbClr val="D4D499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599A6104DC34A9C37FAE2DED8D6E9" ma:contentTypeVersion="0" ma:contentTypeDescription="Create a new document." ma:contentTypeScope="" ma:versionID="19877f96bfaf4df934f35472f40ea0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8F8A91-D28D-4B45-A599-44E81D535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160343-857B-421C-B78C-26DAF858986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22029</TotalTime>
  <Words>539</Words>
  <Application>Microsoft Office PowerPoint</Application>
  <PresentationFormat>A4 Paper (210x297 mm)</PresentationFormat>
  <Paragraphs>255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Symbol</vt:lpstr>
      <vt:lpstr>174_ICG_Pres (A4)</vt:lpstr>
      <vt:lpstr>Prometheus acquisition  Atlas Gaming</vt:lpstr>
      <vt:lpstr>DCF model snapshot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Casper, Peter [ICG-CIB]</dc:creator>
  <cp:lastModifiedBy>T.P.V.S. ANIRUDH</cp:lastModifiedBy>
  <cp:revision>1687</cp:revision>
  <cp:lastPrinted>2018-10-30T01:55:39Z</cp:lastPrinted>
  <dcterms:created xsi:type="dcterms:W3CDTF">2017-05-05T01:00:02Z</dcterms:created>
  <dcterms:modified xsi:type="dcterms:W3CDTF">2019-12-25T08:07:01Z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false</vt:bool>
  </property>
  <property fmtid="{D5CDD505-2E9C-101B-9397-08002B2CF9AE}" pid="4" name="ContentTypeId">
    <vt:lpwstr>0x010100628599A6104DC34A9C37FAE2DED8D6E9</vt:lpwstr>
  </property>
  <property fmtid="{D5CDD505-2E9C-101B-9397-08002B2CF9AE}" pid="5" name="SectionTitleAlign">
    <vt:lpwstr>L</vt:lpwstr>
  </property>
  <property fmtid="{D5CDD505-2E9C-101B-9397-08002B2CF9AE}" pid="6" name="PageNumberTop">
    <vt:lpwstr>523.4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20</vt:lpwstr>
  </property>
  <property fmtid="{D5CDD505-2E9C-101B-9397-08002B2CF9AE}" pid="10" name="SectionTitleTop">
    <vt:lpwstr>523.4</vt:lpwstr>
  </property>
  <property fmtid="{D5CDD505-2E9C-101B-9397-08002B2CF9AE}" pid="11" name="SectionTitleLeft">
    <vt:lpwstr>33</vt:lpwstr>
  </property>
  <property fmtid="{D5CDD505-2E9C-101B-9397-08002B2CF9AE}" pid="12" name="PageNumAlign">
    <vt:lpwstr>L</vt:lpwstr>
  </property>
  <property fmtid="{D5CDD505-2E9C-101B-9397-08002B2CF9AE}" pid="13" name="TOCOpt">
    <vt:lpwstr>1</vt:lpwstr>
  </property>
  <property fmtid="{D5CDD505-2E9C-101B-9397-08002B2CF9AE}" pid="14" name="PNSOpt">
    <vt:lpwstr>1</vt:lpwstr>
  </property>
  <property fmtid="{D5CDD505-2E9C-101B-9397-08002B2CF9AE}" pid="15" name="Is_Custom_Template">
    <vt:lpwstr>false</vt:lpwstr>
  </property>
  <property fmtid="{D5CDD505-2E9C-101B-9397-08002B2CF9AE}" pid="16" name="TOCHeaderTop">
    <vt:lpwstr>0</vt:lpwstr>
  </property>
  <property fmtid="{D5CDD505-2E9C-101B-9397-08002B2CF9AE}" pid="17" name="TOCHeaderLeft">
    <vt:lpwstr>0</vt:lpwstr>
  </property>
  <property fmtid="{D5CDD505-2E9C-101B-9397-08002B2CF9AE}" pid="18" name="CitiLogoTop">
    <vt:lpwstr>0</vt:lpwstr>
  </property>
  <property fmtid="{D5CDD505-2E9C-101B-9397-08002B2CF9AE}" pid="19" name="CitiLogoLeft">
    <vt:lpwstr>0</vt:lpwstr>
  </property>
  <property fmtid="{D5CDD505-2E9C-101B-9397-08002B2CF9AE}" pid="20" name="Pitchbook Compatible">
    <vt:lpwstr>Yes</vt:lpwstr>
  </property>
</Properties>
</file>